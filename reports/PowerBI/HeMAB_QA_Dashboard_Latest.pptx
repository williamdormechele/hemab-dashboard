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HH Members Interviewed By FW as of Today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(Women Tool) Number of Women Interviewed By FW as of Today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Cumulative 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Cumulative  Women 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Cumulative HCWs 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Cumulative HCWs Interviews By Type of Health Facility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Distribution of Interviews By Village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Who is the respondent?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Can the interview be conducted?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Interviews By Zones and Study Arm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HH Members Interviewed in a HH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Queries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Error Type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Queries Question Numbers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Queries by Field Worker and Error Type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Queries by Field Worker and Tool Sections</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Distribution of Interviews By Village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Woman as HoH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Response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Interviews By Zones and Study Arm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Queries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Error Type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Queries Question Numbers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multiRowCard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Interviews Conducted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Daily Data Sync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multiRowCard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Participants Interviewed in Hospitals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Participants Interviewed in Health Centers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Participants Interviewed in CHPS By Field 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HCWs Interviews By Type of Health Facility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Total HCWs Interviewed By Facility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Gender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Profession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Age Group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HCWs Interviewed By Facility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Queries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Error Type By Fieldworker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Queries Question Numbers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9116246f-5efa-4baa-a841-cfd42419ed04?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07eff82b26d24b3c" /><Relationship Type="http://schemas.openxmlformats.org/officeDocument/2006/relationships/slideLayout" Target="/ppt/slideLayouts/slideLayout8.xml" Id="R14034c943c404277" /><Relationship Type="http://schemas.openxmlformats.org/officeDocument/2006/relationships/hyperlink" Target="https://app.powerbi.com/groups/me/reports/9116246f-5efa-4baa-a841-cfd42419ed04/?pbi_source=PowerPoint" TargetMode="External" Id="RelId0" /><Relationship Type="http://schemas.openxmlformats.org/officeDocument/2006/relationships/image" Target="/ppt/media/image4.png" Id="imgId44474607"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b788015cd884428b" /><Relationship Type="http://schemas.openxmlformats.org/officeDocument/2006/relationships/slideLayout" Target="/ppt/slideLayouts/slideLayout8.xml" Id="R1ed38789556d4230" /><Relationship Type="http://schemas.openxmlformats.org/officeDocument/2006/relationships/hyperlink" Target="https://app.powerbi.com/groups/me/reports/9116246f-5efa-4baa-a841-cfd42419ed04/?pbi_source=PowerPoint" TargetMode="External" Id="RelId1" /><Relationship Type="http://schemas.openxmlformats.org/officeDocument/2006/relationships/image" Target="/ppt/media/image5.png" Id="imgId44474609"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65e6371e78e443e1" /><Relationship Type="http://schemas.openxmlformats.org/officeDocument/2006/relationships/slideLayout" Target="/ppt/slideLayouts/slideLayout8.xml" Id="R6b82124345634704" /><Relationship Type="http://schemas.openxmlformats.org/officeDocument/2006/relationships/hyperlink" Target="https://app.powerbi.com/groups/me/reports/9116246f-5efa-4baa-a841-cfd42419ed04/?pbi_source=PowerPoint" TargetMode="External" Id="RelId2" /><Relationship Type="http://schemas.openxmlformats.org/officeDocument/2006/relationships/image" Target="/ppt/media/image6.png" Id="imgId4447461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c1a80c52a5a54898" /><Relationship Type="http://schemas.openxmlformats.org/officeDocument/2006/relationships/slideLayout" Target="/ppt/slideLayouts/slideLayout8.xml" Id="R33609f19bcbe40ea" /><Relationship Type="http://schemas.openxmlformats.org/officeDocument/2006/relationships/hyperlink" Target="https://app.powerbi.com/groups/me/reports/9116246f-5efa-4baa-a841-cfd42419ed04/?pbi_source=PowerPoint" TargetMode="External" Id="RelId3" /><Relationship Type="http://schemas.openxmlformats.org/officeDocument/2006/relationships/image" Target="/ppt/media/image7.png" Id="imgId44474611"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e7dba43e14c746ed" /><Relationship Type="http://schemas.openxmlformats.org/officeDocument/2006/relationships/slideLayout" Target="/ppt/slideLayouts/slideLayout8.xml" Id="R88d82c661f804313" /><Relationship Type="http://schemas.openxmlformats.org/officeDocument/2006/relationships/hyperlink" Target="https://app.powerbi.com/groups/me/reports/9116246f-5efa-4baa-a841-cfd42419ed04/?pbi_source=PowerPoint" TargetMode="External" Id="RelId4" /><Relationship Type="http://schemas.openxmlformats.org/officeDocument/2006/relationships/image" Target="/ppt/media/image8.png" Id="imgId44474612"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f509a68642a24725" /><Relationship Type="http://schemas.openxmlformats.org/officeDocument/2006/relationships/slideLayout" Target="/ppt/slideLayouts/slideLayout8.xml" Id="Rb871be39d997419d" /><Relationship Type="http://schemas.openxmlformats.org/officeDocument/2006/relationships/hyperlink" Target="https://app.powerbi.com/groups/me/reports/9116246f-5efa-4baa-a841-cfd42419ed04/?pbi_source=PowerPoint" TargetMode="External" Id="RelId5" /><Relationship Type="http://schemas.openxmlformats.org/officeDocument/2006/relationships/image" Target="/ppt/media/image9.png" Id="imgId44474613"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9aa848b15f40423e" /><Relationship Type="http://schemas.openxmlformats.org/officeDocument/2006/relationships/slideLayout" Target="/ppt/slideLayouts/slideLayout8.xml" Id="R3c3bfdf7b42e40c2" /><Relationship Type="http://schemas.openxmlformats.org/officeDocument/2006/relationships/hyperlink" Target="https://app.powerbi.com/groups/me/reports/9116246f-5efa-4baa-a841-cfd42419ed04/?pbi_source=PowerPoint" TargetMode="External" Id="RelId6" /><Relationship Type="http://schemas.openxmlformats.org/officeDocument/2006/relationships/image" Target="/ppt/media/imagea.png" Id="imgId44474614"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1f4b1ec111b641c7" /><Relationship Type="http://schemas.openxmlformats.org/officeDocument/2006/relationships/slideLayout" Target="/ppt/slideLayouts/slideLayout8.xml" Id="R7faae768f0054124" /><Relationship Type="http://schemas.openxmlformats.org/officeDocument/2006/relationships/hyperlink" Target="https://app.powerbi.com/groups/me/reports/9116246f-5efa-4baa-a841-cfd42419ed04/?pbi_source=PowerPoint" TargetMode="External" Id="RelId7" /><Relationship Type="http://schemas.openxmlformats.org/officeDocument/2006/relationships/image" Target="/ppt/media/imageb.png" Id="imgId44474615"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4839b10cabcd4524" /><Relationship Type="http://schemas.openxmlformats.org/officeDocument/2006/relationships/slideLayout" Target="/ppt/slideLayouts/slideLayout8.xml" Id="R39e8b3ba21f04f5f" /><Relationship Type="http://schemas.openxmlformats.org/officeDocument/2006/relationships/hyperlink" Target="https://app.powerbi.com/groups/me/reports/9116246f-5efa-4baa-a841-cfd42419ed04/?pbi_source=PowerPoint" TargetMode="External" Id="RelId8" /><Relationship Type="http://schemas.openxmlformats.org/officeDocument/2006/relationships/image" Target="/ppt/media/imagec.png" Id="imgId44474616"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218388dc600a4a21" /><Relationship Type="http://schemas.openxmlformats.org/officeDocument/2006/relationships/slideLayout" Target="/ppt/slideLayouts/slideLayout8.xml" Id="R5aa4cfa5206f4b0f" /><Relationship Type="http://schemas.openxmlformats.org/officeDocument/2006/relationships/hyperlink" Target="https://app.powerbi.com/groups/me/reports/9116246f-5efa-4baa-a841-cfd42419ed04/?pbi_source=PowerPoint" TargetMode="External" Id="RelId9" /><Relationship Type="http://schemas.openxmlformats.org/officeDocument/2006/relationships/image" Target="/ppt/media/imaged.png" Id="imgId44474617"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GH-HeMAB</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12/17/2025 9:57:37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12/17/2025 9:55:32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HH Members Interviewed By FW as of Today ,actionButton ,card ,textbox ,textbox ,(Women Tool) Number of Women Interviewed By FW as of Today ,shape ,gauge ,Cumulative Interviews Conducted By Field Worker ,gauge ,Cumulative  Women Interviews Conducted By Field Worker ,card ,Cumulative HCWs Interviews Conducted By Field Worker ,card ,Cumulative HCWs Interviews By Type of Health Facility.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44474607"/>
          <a:stretch xmlns:a="http://schemas.openxmlformats.org/drawingml/2006/main">
            <a:fillRect/>
          </a:stretch>
        </p:blipFill>
        <p:spPr>
          <a:xfrm xmlns:a="http://schemas.openxmlformats.org/drawingml/2006/main">
            <a:off x="866775" y="0"/>
            <a:ext cx="10448925"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Daily Work Summary</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Interviews Conducted By Field Worker ,slicer ,Distribution of Interviews By Village ,actionButton ,card ,textbox ,textbox ,gauge ,Who is the respondent? ,Can the interview be conducted? ,Interviews By Zones and Study Arm ,slicer ,slicer ,slicer ,Number of HH Members Interviewed in a HH ,textbox.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44474609"/>
          <a:stretch xmlns:a="http://schemas.openxmlformats.org/drawingml/2006/main">
            <a:fillRect/>
          </a:stretch>
        </p:blipFill>
        <p:spPr>
          <a:xfrm xmlns:a="http://schemas.openxmlformats.org/drawingml/2006/main">
            <a:off x="923925" y="0"/>
            <a:ext cx="103251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HHmembers-Summary</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licer ,card ,Total Queries By Fieldworker ,Total Error Type By Fieldworker ,slicer ,slicer ,Queries Question Numbers ,card ,textbox ,textbox ,textbo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44474610"/>
          <a:stretch xmlns:a="http://schemas.openxmlformats.org/drawingml/2006/main">
            <a:fillRect/>
          </a:stretch>
        </p:blipFill>
        <p:spPr>
          <a:xfrm xmlns:a="http://schemas.openxmlformats.org/drawingml/2006/main">
            <a:off x="1685925" y="0"/>
            <a:ext cx="88011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HHmembers-Queries</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slicer ,card ,slicer ,slicer ,card ,textbox ,textbox ,textbox ,Total Queries by Field Worker and Error Type  ,Total Queries by Field Worker and Tool Sections.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44474611"/>
          <a:stretch xmlns:a="http://schemas.openxmlformats.org/drawingml/2006/main">
            <a:fillRect/>
          </a:stretch>
        </p:blipFill>
        <p:spPr>
          <a:xfrm xmlns:a="http://schemas.openxmlformats.org/drawingml/2006/main">
            <a:off x="2571750" y="0"/>
            <a:ext cx="702945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HHmembers-Queries 2</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Interviews Conducted By Field Worker ,slicer ,Distribution of Interviews By Village ,actionButton ,card ,textbox ,textbox ,gauge ,Woman as HoH ,Response Status ,Interviews By Zones and Study Arm ,slicer ,slicer ,slicer ,textbox.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44474612"/>
          <a:stretch xmlns:a="http://schemas.openxmlformats.org/drawingml/2006/main">
            <a:fillRect/>
          </a:stretch>
        </p:blipFill>
        <p:spPr>
          <a:xfrm xmlns:a="http://schemas.openxmlformats.org/drawingml/2006/main">
            <a:off x="923925" y="0"/>
            <a:ext cx="103251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Women-Summary</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slicer ,card ,Total Queries By Fieldworker ,Total Error Type By Fieldworker ,slicer ,slicer ,Queries Question Numbers ,card ,textbox ,textbox ,textbox.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44474613"/>
          <a:stretch xmlns:a="http://schemas.openxmlformats.org/drawingml/2006/main">
            <a:fillRect/>
          </a:stretch>
        </p:blipFill>
        <p:spPr>
          <a:xfrm xmlns:a="http://schemas.openxmlformats.org/drawingml/2006/main">
            <a:off x="1685925" y="0"/>
            <a:ext cx="88011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Women-Queries</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card ,multiRowCard ,Interviews Conducted By Field Worker ,slicer ,slicer ,slicer ,Daily Data Sync status ,actionButton ,slicer ,card ,textbox ,textbox ,textbox.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44474614"/>
          <a:stretch xmlns:a="http://schemas.openxmlformats.org/drawingml/2006/main">
            <a:fillRect/>
          </a:stretch>
        </p:blipFill>
        <p:spPr>
          <a:xfrm xmlns:a="http://schemas.openxmlformats.org/drawingml/2006/main">
            <a:off x="161925" y="0"/>
            <a:ext cx="11858625"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HW-Summary</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card ,multiRowCard ,Number of Participants Interviewed in Hospitals By Field Worker ,slicer ,slicer ,slicer ,slicer ,Number of Participants Interviewed in Health Centers By Field Worker ,Number of Participants Interviewed in CHPS By Field Worker ,HCWs Interviews By Type of Health Facility ,card ,textbox ,textbox ,textbox.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44474615"/>
          <a:stretch xmlns:a="http://schemas.openxmlformats.org/drawingml/2006/main">
            <a:fillRect/>
          </a:stretch>
        </p:blipFill>
        <p:spPr>
          <a:xfrm xmlns:a="http://schemas.openxmlformats.org/drawingml/2006/main">
            <a:off x="3457575" y="0"/>
            <a:ext cx="525780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HW-Summary 2</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Total HCWs Interviewed By Facility ,slicer ,slicer ,slicer ,Gender Distribution ,Profession Distribution ,Age Group Distribution ,slicer ,card ,textbox ,textbox ,Total HCWs Interviewed By Facility ,textbox.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44474616"/>
          <a:stretch xmlns:a="http://schemas.openxmlformats.org/drawingml/2006/main">
            <a:fillRect/>
          </a:stretch>
        </p:blipFill>
        <p:spPr>
          <a:xfrm xmlns:a="http://schemas.openxmlformats.org/drawingml/2006/main">
            <a:off x="2066925" y="0"/>
            <a:ext cx="8048625"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HW-Epid</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slicer ,card ,Total Queries By Fieldworker ,Total Error Type By Fieldworker ,slicer ,slicer ,Queries Question Numbers ,card ,textbox ,textbox ,textbox.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44474617"/>
          <a:stretch xmlns:a="http://schemas.openxmlformats.org/drawingml/2006/main">
            <a:fillRect/>
          </a:stretch>
        </p:blipFill>
        <p:spPr>
          <a:xfrm xmlns:a="http://schemas.openxmlformats.org/drawingml/2006/main">
            <a:off x="1685925" y="0"/>
            <a:ext cx="880110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HW-Queries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