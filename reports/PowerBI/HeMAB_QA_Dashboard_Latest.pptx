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2.xml" ContentType="application/vnd.openxmlformats-officedocument.presentationml.slide+xml"/>
  <Override PartName="/ppt/notesSlides/notesSlide.xml" ContentType="application/vnd.openxmlformats-officedocument.presentationml.notesSlide+xml"/>
  <Override PartName="/ppt/slides/slide3.xml" ContentType="application/vnd.openxmlformats-officedocument.presentationml.slide+xml"/>
  <Override PartName="/ppt/notesSlides/notesSlide2.xml" ContentType="application/vnd.openxmlformats-officedocument.presentationml.notesSlide+xml"/>
  <Override PartName="/ppt/slides/slide4.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4.xml" ContentType="application/vnd.openxmlformats-officedocument.presentationml.notesSlide+xml"/>
  <Override PartName="/ppt/slides/slide6.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6.xml" ContentType="application/vnd.openxmlformats-officedocument.presentationml.notesSlide+xml"/>
  <Override PartName="/ppt/slides/slide8.xml" ContentType="application/vnd.openxmlformats-officedocument.presentationml.slide+xml"/>
  <Override PartName="/ppt/notesSlides/notesSlide7.xml" ContentType="application/vnd.openxmlformats-officedocument.presentationml.notesSlide+xml"/>
  <Override PartName="/ppt/slides/slide9.xml" ContentType="application/vnd.openxmlformats-officedocument.presentationml.slide+xml"/>
  <Override PartName="/ppt/notesSlides/notesSlide8.xml" ContentType="application/vnd.openxmlformats-officedocument.presentationml.notesSlide+xml"/>
  <Override PartName="/ppt/slides/slidea.xml" ContentType="application/vnd.openxmlformats-officedocument.presentationml.slide+xml"/>
  <Override PartName="/ppt/notesSlides/notesSlide9.xml" ContentType="application/vnd.openxmlformats-officedocument.presentationml.notesSlide+xml"/>
  <Override PartName="/ppt/slides/slideb.xml" ContentType="application/vnd.openxmlformats-officedocument.presentationml.slide+xml"/>
  <Override PartName="/ppt/notesSlides/notesSlidea.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elId0"/>
    <p:sldId id="258" r:id="RelId1"/>
    <p:sldId id="259" r:id="RelId2"/>
    <p:sldId id="260" r:id="RelId3"/>
    <p:sldId id="261" r:id="RelId4"/>
    <p:sldId id="262" r:id="RelId5"/>
    <p:sldId id="263" r:id="RelId6"/>
    <p:sldId id="264" r:id="RelId7"/>
    <p:sldId id="265" r:id="RelId8"/>
    <p:sldId id="266" r:id="Rel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C910"/>
    <a:srgbClr val="D9D9D9"/>
    <a:srgbClr val="D3D3D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34580" autoAdjust="0"/>
    <p:restoredTop sz="86410" autoAdjust="0"/>
  </p:normalViewPr>
  <p:slideViewPr>
    <p:cSldViewPr snapToGrid="0" snapToObjects="1">
      <p:cViewPr varScale="1">
        <p:scale>
          <a:sx n="72" d="100"/>
          <a:sy n="72" d="100"/>
        </p:scale>
        <p:origin x="84" y="756"/>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presProps" Target="presProps.xml" Id="rId3" /><Relationship Type="http://schemas.openxmlformats.org/officeDocument/2006/relationships/slide" Target="slides/slide1.xml" Id="rId2" /><Relationship Type="http://schemas.openxmlformats.org/officeDocument/2006/relationships/slideMaster" Target="slideMasters/slideMaster1.xml" Id="rId1" /><Relationship Type="http://schemas.openxmlformats.org/officeDocument/2006/relationships/tableStyles" Target="tableStyles.xml" Id="rId6" /><Relationship Type="http://schemas.openxmlformats.org/officeDocument/2006/relationships/theme" Target="theme/theme1.xml" Id="rId5" /><Relationship Type="http://schemas.openxmlformats.org/officeDocument/2006/relationships/viewProps" Target="viewProps.xml" Id="rId4" /><Relationship Type="http://schemas.openxmlformats.org/officeDocument/2006/relationships/slide" Target="/ppt/slides/slide2.xml" Id="RelId0" /><Relationship Type="http://schemas.openxmlformats.org/officeDocument/2006/relationships/slide" Target="/ppt/slides/slide3.xml" Id="RelId1" /><Relationship Type="http://schemas.openxmlformats.org/officeDocument/2006/relationships/slide" Target="/ppt/slides/slide4.xml" Id="RelId2" /><Relationship Type="http://schemas.openxmlformats.org/officeDocument/2006/relationships/slide" Target="/ppt/slides/slide5.xml" Id="RelId3" /><Relationship Type="http://schemas.openxmlformats.org/officeDocument/2006/relationships/slide" Target="/ppt/slides/slide6.xml" Id="RelId4" /><Relationship Type="http://schemas.openxmlformats.org/officeDocument/2006/relationships/slide" Target="/ppt/slides/slide7.xml" Id="RelId5" /><Relationship Type="http://schemas.openxmlformats.org/officeDocument/2006/relationships/slide" Target="/ppt/slides/slide8.xml" Id="RelId6" /><Relationship Type="http://schemas.openxmlformats.org/officeDocument/2006/relationships/slide" Target="/ppt/slides/slide9.xml" Id="RelId7" /><Relationship Type="http://schemas.openxmlformats.org/officeDocument/2006/relationships/slide" Target="/ppt/slides/slidea.xml" Id="RelId8" /><Relationship Type="http://schemas.openxmlformats.org/officeDocument/2006/relationships/slide" Target="/ppt/slides/slideb.xml" Id="RelId9" /></Relationships>
</file>

<file path=ppt/notesSlides/notesSlide.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HH Members Interviewed By FW as of Today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(Women Tool) Number of Women Interviewed By FW as of Today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Women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HCWs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HCWs Interviews By Type of Health Facility</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2.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Distribution of Interviews By Village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Who is the respondent?</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Can the interview be conducted?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By Zones and Study Arm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HH Members Interviewed in a HH</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3.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4.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 Worker and Error Type </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 Worker and Tool Sections</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5.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Distribution of Interviews By Village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Woman as HoH</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Response Status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By Zones and Study Arm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6.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7.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multiRowCard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Daily Data Sync status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8.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multiRowCard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Hospitals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Health Centers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CHPS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HCWs Interviews By Type of Health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9.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Total HCWs Interviewed By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Gender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Profession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Age Group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HCWs Interviewed By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a.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747689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144985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268814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04331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27ED9C8-F09A-4D9E-BEC0-4725162E21FF}" type="datetimeFigureOut">
              <a:rPr lang="en-US" smtClean="0"/>
              <a:t>11/25/2020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25692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27ED9C8-F09A-4D9E-BEC0-4725162E21FF}" type="datetimeFigureOut">
              <a:rPr lang="en-US" smtClean="0"/>
              <a:t>11/25/2020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2809139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27ED9C8-F09A-4D9E-BEC0-4725162E21FF}" type="datetimeFigureOut">
              <a:rPr lang="en-US" smtClean="0"/>
              <a:t>11/25/2020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358181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93390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8848075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553214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9826409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p14="http://schemas.microsoft.com/office/powerpoint/2010/main"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27ED9C8-F09A-4D9E-BEC0-4725162E21FF}" type="datetimeFigureOut">
              <a:rPr lang="en-US" smtClean="0"/>
              <a:t>11/25/2020</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C7D807A-D3EC-4DEA-86E2-120E4093F1A6}" type="slidenum">
              <a:rPr lang="en-US" smtClean="0"/>
              <a:t>‹#›</a:t>
            </a:fld>
            <a:endParaRPr lang="en-US"/>
          </a:p>
        </p:txBody>
      </p:sp>
    </p:spTree>
    <p:extLst>
      <p:ext uri="{BB962C8B-B14F-4D97-AF65-F5344CB8AC3E}">
        <p14:creationId xmlns:p14="http://schemas.microsoft.com/office/powerpoint/2010/main" val="142369109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&#65279;<?xml version="1.0" encoding="utf-8"?><Relationships xmlns="http://schemas.openxmlformats.org/package/2006/relationships"><Relationship Type="http://schemas.openxmlformats.org/officeDocument/2006/relationships/image" Target="../media/image1.png" Id="rId2" /><Relationship Type="http://schemas.openxmlformats.org/officeDocument/2006/relationships/slideLayout" Target="../slideLayouts/slideLayout7.xml" Id="rId1" /><Relationship Type="http://schemas.openxmlformats.org/officeDocument/2006/relationships/image" Target="../media/image3.png" Id="rId5" /><Relationship Type="http://schemas.openxmlformats.org/officeDocument/2006/relationships/image" Target="../media/image2.png" Id="rId4" /><Relationship Type="http://schemas.openxmlformats.org/officeDocument/2006/relationships/hyperlink" Target="https://app.powerbi.com/groups/me/reports/9116246f-5efa-4baa-a841-cfd42419ed04?pbi_source=PowerPoint" TargetMode="External" Id="coverSlideHpLink" /></Relationships>
</file>

<file path=ppt/slides/_rels/slide2.xml.rels>&#65279;<?xml version="1.0" encoding="utf-8"?><Relationships xmlns="http://schemas.openxmlformats.org/package/2006/relationships"><Relationship Type="http://schemas.openxmlformats.org/officeDocument/2006/relationships/notesSlide" Target="/ppt/notesSlides/notesSlide.xml" Id="R449b39b4348545d1" /><Relationship Type="http://schemas.openxmlformats.org/officeDocument/2006/relationships/slideLayout" Target="/ppt/slideLayouts/slideLayout8.xml" Id="R8b953216dd0a48eb" /><Relationship Type="http://schemas.openxmlformats.org/officeDocument/2006/relationships/hyperlink" Target="https://app.powerbi.com/groups/me/reports/9116246f-5efa-4baa-a841-cfd42419ed04/?pbi_source=PowerPoint" TargetMode="External" Id="RelId0" /><Relationship Type="http://schemas.openxmlformats.org/officeDocument/2006/relationships/image" Target="/ppt/media/image4.png" Id="imgId44788399" /></Relationships>
</file>

<file path=ppt/slides/_rels/slide3.xml.rels>&#65279;<?xml version="1.0" encoding="utf-8"?><Relationships xmlns="http://schemas.openxmlformats.org/package/2006/relationships"><Relationship Type="http://schemas.openxmlformats.org/officeDocument/2006/relationships/notesSlide" Target="/ppt/notesSlides/notesSlide2.xml" Id="R8af1ff6d63bd4c1a" /><Relationship Type="http://schemas.openxmlformats.org/officeDocument/2006/relationships/slideLayout" Target="/ppt/slideLayouts/slideLayout8.xml" Id="R655b7ebdad174cd8" /><Relationship Type="http://schemas.openxmlformats.org/officeDocument/2006/relationships/hyperlink" Target="https://app.powerbi.com/groups/me/reports/9116246f-5efa-4baa-a841-cfd42419ed04/?pbi_source=PowerPoint" TargetMode="External" Id="RelId1" /><Relationship Type="http://schemas.openxmlformats.org/officeDocument/2006/relationships/image" Target="/ppt/media/image5.png" Id="imgId44788401" /></Relationships>
</file>

<file path=ppt/slides/_rels/slide4.xml.rels>&#65279;<?xml version="1.0" encoding="utf-8"?><Relationships xmlns="http://schemas.openxmlformats.org/package/2006/relationships"><Relationship Type="http://schemas.openxmlformats.org/officeDocument/2006/relationships/notesSlide" Target="/ppt/notesSlides/notesSlide3.xml" Id="R798e031379b74cd3" /><Relationship Type="http://schemas.openxmlformats.org/officeDocument/2006/relationships/slideLayout" Target="/ppt/slideLayouts/slideLayout8.xml" Id="Rca3ca334a1b84540" /><Relationship Type="http://schemas.openxmlformats.org/officeDocument/2006/relationships/hyperlink" Target="https://app.powerbi.com/groups/me/reports/9116246f-5efa-4baa-a841-cfd42419ed04/?pbi_source=PowerPoint" TargetMode="External" Id="RelId2" /><Relationship Type="http://schemas.openxmlformats.org/officeDocument/2006/relationships/image" Target="/ppt/media/image6.png" Id="imgId44788402" /></Relationships>
</file>

<file path=ppt/slides/_rels/slide5.xml.rels>&#65279;<?xml version="1.0" encoding="utf-8"?><Relationships xmlns="http://schemas.openxmlformats.org/package/2006/relationships"><Relationship Type="http://schemas.openxmlformats.org/officeDocument/2006/relationships/notesSlide" Target="/ppt/notesSlides/notesSlide4.xml" Id="Ree477f0db5cd4144" /><Relationship Type="http://schemas.openxmlformats.org/officeDocument/2006/relationships/slideLayout" Target="/ppt/slideLayouts/slideLayout8.xml" Id="R32bd2f94a3a84d5c" /><Relationship Type="http://schemas.openxmlformats.org/officeDocument/2006/relationships/hyperlink" Target="https://app.powerbi.com/groups/me/reports/9116246f-5efa-4baa-a841-cfd42419ed04/?pbi_source=PowerPoint" TargetMode="External" Id="RelId3" /><Relationship Type="http://schemas.openxmlformats.org/officeDocument/2006/relationships/image" Target="/ppt/media/image7.png" Id="imgId44788403" /></Relationships>
</file>

<file path=ppt/slides/_rels/slide6.xml.rels>&#65279;<?xml version="1.0" encoding="utf-8"?><Relationships xmlns="http://schemas.openxmlformats.org/package/2006/relationships"><Relationship Type="http://schemas.openxmlformats.org/officeDocument/2006/relationships/notesSlide" Target="/ppt/notesSlides/notesSlide5.xml" Id="Rea8c351c1a514a11" /><Relationship Type="http://schemas.openxmlformats.org/officeDocument/2006/relationships/slideLayout" Target="/ppt/slideLayouts/slideLayout8.xml" Id="R0fe601c4685d4a99" /><Relationship Type="http://schemas.openxmlformats.org/officeDocument/2006/relationships/hyperlink" Target="https://app.powerbi.com/groups/me/reports/9116246f-5efa-4baa-a841-cfd42419ed04/?pbi_source=PowerPoint" TargetMode="External" Id="RelId4" /><Relationship Type="http://schemas.openxmlformats.org/officeDocument/2006/relationships/image" Target="/ppt/media/image8.png" Id="imgId44788404" /></Relationships>
</file>

<file path=ppt/slides/_rels/slide7.xml.rels>&#65279;<?xml version="1.0" encoding="utf-8"?><Relationships xmlns="http://schemas.openxmlformats.org/package/2006/relationships"><Relationship Type="http://schemas.openxmlformats.org/officeDocument/2006/relationships/notesSlide" Target="/ppt/notesSlides/notesSlide6.xml" Id="Re04578fe625d4ef4" /><Relationship Type="http://schemas.openxmlformats.org/officeDocument/2006/relationships/slideLayout" Target="/ppt/slideLayouts/slideLayout8.xml" Id="R65dc24a0dfd244cd" /><Relationship Type="http://schemas.openxmlformats.org/officeDocument/2006/relationships/hyperlink" Target="https://app.powerbi.com/groups/me/reports/9116246f-5efa-4baa-a841-cfd42419ed04/?pbi_source=PowerPoint" TargetMode="External" Id="RelId5" /><Relationship Type="http://schemas.openxmlformats.org/officeDocument/2006/relationships/image" Target="/ppt/media/image9.png" Id="imgId44788405" /></Relationships>
</file>

<file path=ppt/slides/_rels/slide8.xml.rels>&#65279;<?xml version="1.0" encoding="utf-8"?><Relationships xmlns="http://schemas.openxmlformats.org/package/2006/relationships"><Relationship Type="http://schemas.openxmlformats.org/officeDocument/2006/relationships/notesSlide" Target="/ppt/notesSlides/notesSlide7.xml" Id="R38b86deb624f4e2b" /><Relationship Type="http://schemas.openxmlformats.org/officeDocument/2006/relationships/slideLayout" Target="/ppt/slideLayouts/slideLayout8.xml" Id="R17d556292d0b46ab" /><Relationship Type="http://schemas.openxmlformats.org/officeDocument/2006/relationships/hyperlink" Target="https://app.powerbi.com/groups/me/reports/9116246f-5efa-4baa-a841-cfd42419ed04/?pbi_source=PowerPoint" TargetMode="External" Id="RelId6" /><Relationship Type="http://schemas.openxmlformats.org/officeDocument/2006/relationships/image" Target="/ppt/media/imagea.png" Id="imgId44788406" /></Relationships>
</file>

<file path=ppt/slides/_rels/slide9.xml.rels>&#65279;<?xml version="1.0" encoding="utf-8"?><Relationships xmlns="http://schemas.openxmlformats.org/package/2006/relationships"><Relationship Type="http://schemas.openxmlformats.org/officeDocument/2006/relationships/notesSlide" Target="/ppt/notesSlides/notesSlide8.xml" Id="R3949e115e2984ed8" /><Relationship Type="http://schemas.openxmlformats.org/officeDocument/2006/relationships/slideLayout" Target="/ppt/slideLayouts/slideLayout8.xml" Id="Ra276b30d2a6d4fb0" /><Relationship Type="http://schemas.openxmlformats.org/officeDocument/2006/relationships/hyperlink" Target="https://app.powerbi.com/groups/me/reports/9116246f-5efa-4baa-a841-cfd42419ed04/?pbi_source=PowerPoint" TargetMode="External" Id="RelId7" /><Relationship Type="http://schemas.openxmlformats.org/officeDocument/2006/relationships/image" Target="/ppt/media/imageb.png" Id="imgId44788407" /></Relationships>
</file>

<file path=ppt/slides/_rels/slidea.xml.rels>&#65279;<?xml version="1.0" encoding="utf-8"?><Relationships xmlns="http://schemas.openxmlformats.org/package/2006/relationships"><Relationship Type="http://schemas.openxmlformats.org/officeDocument/2006/relationships/notesSlide" Target="/ppt/notesSlides/notesSlide9.xml" Id="Rdb7c9847ee0c48ac" /><Relationship Type="http://schemas.openxmlformats.org/officeDocument/2006/relationships/slideLayout" Target="/ppt/slideLayouts/slideLayout8.xml" Id="Rdb1c282dd6ca4fd9" /><Relationship Type="http://schemas.openxmlformats.org/officeDocument/2006/relationships/hyperlink" Target="https://app.powerbi.com/groups/me/reports/9116246f-5efa-4baa-a841-cfd42419ed04/?pbi_source=PowerPoint" TargetMode="External" Id="RelId8" /><Relationship Type="http://schemas.openxmlformats.org/officeDocument/2006/relationships/image" Target="/ppt/media/imagec.png" Id="imgId44788408" /></Relationships>
</file>

<file path=ppt/slides/_rels/slideb.xml.rels>&#65279;<?xml version="1.0" encoding="utf-8"?><Relationships xmlns="http://schemas.openxmlformats.org/package/2006/relationships"><Relationship Type="http://schemas.openxmlformats.org/officeDocument/2006/relationships/notesSlide" Target="/ppt/notesSlides/notesSlidea.xml" Id="R448b8b19c5bb4425" /><Relationship Type="http://schemas.openxmlformats.org/officeDocument/2006/relationships/slideLayout" Target="/ppt/slideLayouts/slideLayout8.xml" Id="R9b1742d4efb74577" /><Relationship Type="http://schemas.openxmlformats.org/officeDocument/2006/relationships/hyperlink" Target="https://app.powerbi.com/groups/me/reports/9116246f-5efa-4baa-a841-cfd42419ed04/?pbi_source=PowerPoint" TargetMode="External" Id="RelId9" /><Relationship Type="http://schemas.openxmlformats.org/officeDocument/2006/relationships/image" Target="/ppt/media/imaged.png" Id="imgId44788409" /></Relationships>
</file>

<file path=ppt/slides/slide1.xml><?xml version="1.0" encoding="utf-8"?>
<p:sld xmlns:adec="http://schemas.microsoft.com/office/drawing/2017/decorative" xmlns:a14="http://schemas.microsoft.com/office/drawing/2010/main" xmlns:p14="http://schemas.microsoft.com/office/powerpoint/2010/main"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9" name="Picture 8">
            <a:extLs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2" name="Title 1"/>
          <p:cNvSpPr txBox="1">
            <a:spLocks noGrp="1"/>
          </p:cNvSpPr>
          <p:nvPr>
            <p:ph type="title" idx="4294967295"/>
          </p:nvPr>
        </p:nvSpPr>
        <p:spPr>
          <a:xfrm>
            <a:off x="810584" y="2982149"/>
            <a:ext cx="6314017" cy="600075"/>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normAutofit fontScale="90000"/>
          </a:bodyPr>
          <a:lstStyle>
            <a:lvl1pPr algn="ctr" defTabSz="914400" rtl="0" eaLnBrk="1" latinLnBrk="0" hangingPunct="1">
              <a:lnSpc>
                <a:spcPct val="90000"/>
              </a:lnSpc>
              <a:spcBef>
                <a:spcPct val="0"/>
              </a:spcBef>
              <a:buNone/>
              <a:defRPr sz="4400" b="0" i="0" kern="1200" baseline="0">
                <a:solidFill>
                  <a:schemeClr val="tx1"/>
                </a:solidFill>
                <a:latin typeface="Segoe UI Light" charset="0"/>
                <a:ea typeface="Segoe UI Light" charset="0"/>
                <a:cs typeface="Segoe UI Light"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a:ln>
                  <a:noFill/>
                </a:ln>
                <a:solidFill>
                  <a:srgbClr val="F3C910"/>
                </a:solidFill>
                <a:effectLst/>
                <a:uLnTx/>
                <a:uFillTx/>
                <a:latin typeface="Segoe UI Light" charset="0"/>
                <a:ea typeface="Segoe UI Light" charset="0"/>
                <a:cs typeface="Segoe UI Light" charset="0"/>
              </a:rPr>
              <a:t>GH-HeMAB</a:t>
            </a:r>
            <a:endParaRPr kumimoji="0" lang="en-US" sz="4400" b="0" i="0" u="none" strike="noStrike" kern="1200" cap="none" spc="0" normalizeH="0" baseline="0" noProof="0" dirty="0">
              <a:ln>
                <a:noFill/>
              </a:ln>
              <a:solidFill>
                <a:srgbClr val="F3C910"/>
              </a:solidFill>
              <a:effectLst/>
              <a:uLnTx/>
              <a:uFillTx/>
              <a:latin typeface="Segoe UI Light" charset="0"/>
              <a:ea typeface="Segoe UI Light" charset="0"/>
              <a:cs typeface="Segoe UI Light" charset="0"/>
            </a:endParaRPr>
          </a:p>
        </p:txBody>
      </p:sp>
      <p:sp>
        <p:nvSpPr>
          <p:cNvPr id="13" name="Text Placeholder 2"/>
          <p:cNvSpPr txBox="1">
            <a:spLocks/>
          </p:cNvSpPr>
          <p:nvPr/>
        </p:nvSpPr>
        <p:spPr>
          <a:xfrm>
            <a:off x="853448" y="3658761"/>
            <a:ext cx="1488017" cy="253470"/>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a:buNone/>
              <a:defRPr sz="1200" b="0" i="0" u="sng" kern="1200">
                <a:solidFill>
                  <a:schemeClr val="tx1"/>
                </a:solidFill>
                <a:latin typeface="Segoe UI" charset="0"/>
                <a:ea typeface="Segoe UI" charset="0"/>
                <a:cs typeface="Segoe UI" charset="0"/>
              </a:defRPr>
            </a:lvl1pPr>
            <a:lvl2pPr marL="457200" indent="0" algn="ctr" defTabSz="914400" rtl="0" eaLnBrk="1" latinLnBrk="0" hangingPunct="1">
              <a:lnSpc>
                <a:spcPct val="90000"/>
              </a:lnSpc>
              <a:spcBef>
                <a:spcPts val="500"/>
              </a:spcBef>
              <a:buFont typeface="Arial"/>
              <a:buNone/>
              <a:defRPr sz="2000" kern="1200">
                <a:solidFill>
                  <a:schemeClr val="tx1">
                    <a:tint val="75000"/>
                  </a:schemeClr>
                </a:solidFill>
                <a:latin typeface="+mn-lt"/>
                <a:ea typeface="+mn-ea"/>
                <a:cs typeface="+mn-cs"/>
              </a:defRPr>
            </a:lvl2pPr>
            <a:lvl3pPr marL="914400" indent="0" algn="ctr" defTabSz="914400" rtl="0" eaLnBrk="1" latinLnBrk="0" hangingPunct="1">
              <a:lnSpc>
                <a:spcPct val="90000"/>
              </a:lnSpc>
              <a:spcBef>
                <a:spcPts val="500"/>
              </a:spcBef>
              <a:buFont typeface="Arial"/>
              <a:buNone/>
              <a:defRPr sz="1800" kern="1200">
                <a:solidFill>
                  <a:schemeClr val="tx1">
                    <a:tint val="75000"/>
                  </a:schemeClr>
                </a:solidFill>
                <a:latin typeface="+mn-lt"/>
                <a:ea typeface="+mn-ea"/>
                <a:cs typeface="+mn-cs"/>
              </a:defRPr>
            </a:lvl3pPr>
            <a:lvl4pPr marL="1371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4pPr>
            <a:lvl5pPr marL="18288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5pPr>
            <a:lvl6pPr marL="22860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6pPr>
            <a:lvl7pPr marL="27432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7pPr>
            <a:lvl8pPr marL="32004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8pPr>
            <a:lvl9pPr marL="3657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9pPr>
          </a:lstStyle>
          <a:p>
            <a:pPr algn="l"/>
            <a:r>
              <a:rPr lang="en-US" dirty="0">
                <a:solidFill>
                  <a:schemeClr val="bg1"/>
                </a:solidFill>
                <a:hlinkClick r:id="coverSlideHpLink"/>
              </a:rPr>
              <a:t>View in Power BI</a:t>
            </a:r>
            <a:endParaRPr lang="en-US" dirty="0">
              <a:solidFill>
                <a:schemeClr val="bg1"/>
              </a:solidFill>
            </a:endParaRPr>
          </a:p>
        </p:txBody>
      </p:sp>
      <p:sp>
        <p:nvSpPr>
          <p:cNvPr id="17" name="TextBox 16"/>
          <p:cNvSpPr txBox="1"/>
          <p:nvPr/>
        </p:nvSpPr>
        <p:spPr>
          <a:xfrm>
            <a:off x="832315" y="5823544"/>
            <a:ext cx="2177716" cy="369332"/>
          </a:xfrm>
          <a:prstGeom prst="rect">
            <a:avLst/>
          </a:prstGeom>
          <a:noFill/>
        </p:spPr>
        <p:txBody>
          <a:bodyPr wrap="square" rtlCol="0">
            <a:spAutoFit/>
          </a:bodyPr>
          <a:lstStyle/>
          <a:p>
            <a:r>
              <a:rPr lang="en-US" sz="900" b="1" i="0" dirty="0">
                <a:solidFill>
                  <a:schemeClr val="bg1"/>
                </a:solidFill>
                <a:latin typeface="Segoe UI Semibold" charset="0"/>
                <a:ea typeface="Segoe UI Semibold" charset="0"/>
                <a:cs typeface="Segoe UI Semibold" charset="0"/>
              </a:rPr>
              <a:t>Downloaded at:</a:t>
            </a:r>
          </a:p>
          <a:p>
            <a:r>
              <a:rPr lang="en-US" sz="900" b="0" i="0" dirty="0">
                <a:solidFill>
                  <a:schemeClr val="bg1"/>
                </a:solidFill>
                <a:latin typeface="Segoe UI" charset="0"/>
                <a:ea typeface="Segoe UI" charset="0"/>
                <a:cs typeface="Segoe UI" charset="0"/>
              </a:rPr>
              <a:t>12/27/2025 12:31:47 AM UTC</a:t>
            </a:r>
          </a:p>
        </p:txBody>
      </p:sp>
      <p:sp>
        <p:nvSpPr>
          <p:cNvPr id="10" name="TextBox 9"/>
          <p:cNvSpPr txBox="1"/>
          <p:nvPr/>
        </p:nvSpPr>
        <p:spPr>
          <a:xfrm>
            <a:off x="828512" y="5407903"/>
            <a:ext cx="2177716" cy="369332"/>
          </a:xfrm>
          <a:prstGeom prst="rect">
            <a:avLst/>
          </a:prstGeom>
          <a:noFill/>
        </p:spPr>
        <p:txBody>
          <a:bodyPr wrap="square" rtlCol="0">
            <a:spAutoFit/>
          </a:bodyPr>
          <a:lstStyle/>
          <a:p>
            <a:r>
              <a:rPr lang="en-US" sz="900" b="1" dirty="0">
                <a:solidFill>
                  <a:schemeClr val="bg1"/>
                </a:solidFill>
                <a:latin typeface="Segoe UI Semibold" charset="0"/>
                <a:ea typeface="Segoe UI Semibold" charset="0"/>
                <a:cs typeface="Segoe UI Semibold" charset="0"/>
              </a:rPr>
              <a:t>Last data refresh:</a:t>
            </a:r>
            <a:endParaRPr lang="en-US" sz="900" b="1" i="0" dirty="0">
              <a:solidFill>
                <a:schemeClr val="bg1"/>
              </a:solidFill>
              <a:latin typeface="Segoe UI Semibold" charset="0"/>
              <a:ea typeface="Segoe UI Semibold" charset="0"/>
              <a:cs typeface="Segoe UI Semibold" charset="0"/>
            </a:endParaRPr>
          </a:p>
          <a:p>
            <a:r>
              <a:rPr lang="en-US" sz="900" dirty="0">
                <a:solidFill>
                  <a:schemeClr val="bg1"/>
                </a:solidFill>
                <a:latin typeface="Segoe UI" charset="0"/>
                <a:ea typeface="Segoe UI" charset="0"/>
                <a:cs typeface="Segoe UI" charset="0"/>
              </a:rPr>
              <a:t>12/27/2025 12:29:46 AM UTC</a:t>
            </a:r>
            <a:endParaRPr lang="en-US" sz="900" b="0" i="0" dirty="0">
              <a:solidFill>
                <a:schemeClr val="bg1"/>
              </a:solidFill>
              <a:latin typeface="Segoe UI" charset="0"/>
              <a:ea typeface="Segoe UI" charset="0"/>
              <a:cs typeface="Segoe UI" charset="0"/>
            </a:endParaRPr>
          </a:p>
        </p:txBody>
      </p:sp>
      <p:pic>
        <p:nvPicPr>
          <p:cNvPr id="16" name="Picture 15" descr="Microsoft Power BI"/>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544" y="722376"/>
            <a:ext cx="1490690" cy="245805"/>
          </a:xfrm>
          <a:prstGeom prst="rect">
            <a:avLst/>
          </a:prstGeom>
        </p:spPr>
      </p:pic>
      <p:pic>
        <p:nvPicPr>
          <p:cNvPr id="18" name="Picture 17">
            <a:extLs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39696" y="3694176"/>
            <a:ext cx="162027" cy="153025"/>
          </a:xfrm>
          <a:prstGeom prst="rect">
            <a:avLst/>
          </a:prstGeom>
        </p:spPr>
      </p:pic>
    </p:spTree>
    <p:extLst>
      <p:ext uri="{BB962C8B-B14F-4D97-AF65-F5344CB8AC3E}">
        <p14:creationId xmlns:p14="http://schemas.microsoft.com/office/powerpoint/2010/main" val="7630729"/>
      </p:ext>
    </p:extLst>
  </p:cSld>
  <p:clrMapOvr>
    <a:masterClrMapping/>
  </p:clrMapOvr>
</p:sld>
</file>

<file path=ppt/slides/slide2.xml><?xml version="1.0" encoding="utf-8"?>
<p:sld xmlns:p="http://schemas.openxmlformats.org/presentationml/2006/main">
  <p:cSld>
    <p:spTree>
      <p:nvGrpSpPr>
        <p:cNvPr id="1" name=""/>
        <p:cNvGrpSpPr/>
        <p:nvPr/>
      </p:nvGrpSpPr>
      <p:grpSpPr/>
      <p:pic>
        <p:nvPicPr>
          <p:cNvPr id="3" name="Picture" title="This slide contains the following visuals: HH Members Interviewed By FW as of Today ,actionButton ,card ,textbox ,textbox ,(Women Tool) Number of Women Interviewed By FW as of Today ,shape ,gauge ,Cumulative Interviews Conducted By Field Worker ,gauge ,Cumulative  Women Interviews Conducted By Field Worker ,card ,Cumulative HCWs Interviews Conducted By Field Worker ,card ,Cumulative HCWs Interviews By Type of Health Facility. Please refer to the notes on this slide for details">
            <a:hlinkClick xmlns:r="http://schemas.openxmlformats.org/officeDocument/2006/relationships" xmlns:a="http://schemas.openxmlformats.org/drawingml/2006/main" r:id="RelId0"/>
          </p:cNvPr>
          <p:cNvPicPr>
            <a:picLocks xmlns:a="http://schemas.openxmlformats.org/drawingml/2006/main" noChangeAspect="1"/>
          </p:cNvPicPr>
          <p:nvPr/>
        </p:nvPicPr>
        <p:blipFill>
          <a:blip xmlns:r="http://schemas.openxmlformats.org/officeDocument/2006/relationships" xmlns:a="http://schemas.openxmlformats.org/drawingml/2006/main" r:embed="imgId44788399"/>
          <a:stretch xmlns:a="http://schemas.openxmlformats.org/drawingml/2006/main">
            <a:fillRect/>
          </a:stretch>
        </p:blipFill>
        <p:spPr>
          <a:xfrm xmlns:a="http://schemas.openxmlformats.org/drawingml/2006/main">
            <a:off x="866775" y="0"/>
            <a:ext cx="10448925"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Daily Work Summary</a:t>
            </a:r>
          </a:p>
        </p:txBody>
      </p:sp>
    </p:spTree>
    <p:clrMapOvr>
      <a:masterClrMapping xmlns:a="http://schemas.openxmlformats.org/drawingml/2006/main"/>
    </p:clrMapOvr>
  </p:cSld>
</p:sld>
</file>

<file path=ppt/slides/slide3.xml><?xml version="1.0" encoding="utf-8"?>
<p:sld xmlns:p="http://schemas.openxmlformats.org/presentationml/2006/main">
  <p:cSld>
    <p:spTree>
      <p:nvGrpSpPr>
        <p:cNvPr id="1" name=""/>
        <p:cNvGrpSpPr/>
        <p:nvPr/>
      </p:nvGrpSpPr>
      <p:grpSpPr/>
      <p:pic>
        <p:nvPicPr>
          <p:cNvPr id="3" name="Picture" title="This slide contains the following visuals: Interviews Conducted By Field Worker ,slicer ,Distribution of Interviews By Village ,actionButton ,card ,textbox ,textbox ,gauge ,Who is the respondent? ,Can the interview be conducted? ,Interviews By Zones and Study Arm ,slicer ,slicer ,slicer ,Number of HH Members Interviewed in a HH ,textbox. Please refer to the notes on this slide for details">
            <a:hlinkClick xmlns:r="http://schemas.openxmlformats.org/officeDocument/2006/relationships" xmlns:a="http://schemas.openxmlformats.org/drawingml/2006/main" r:id="RelId1"/>
          </p:cNvPr>
          <p:cNvPicPr>
            <a:picLocks xmlns:a="http://schemas.openxmlformats.org/drawingml/2006/main" noChangeAspect="1"/>
          </p:cNvPicPr>
          <p:nvPr/>
        </p:nvPicPr>
        <p:blipFill>
          <a:blip xmlns:r="http://schemas.openxmlformats.org/officeDocument/2006/relationships" xmlns:a="http://schemas.openxmlformats.org/drawingml/2006/main" r:embed="imgId44788401"/>
          <a:stretch xmlns:a="http://schemas.openxmlformats.org/drawingml/2006/main">
            <a:fillRect/>
          </a:stretch>
        </p:blipFill>
        <p:spPr>
          <a:xfrm xmlns:a="http://schemas.openxmlformats.org/drawingml/2006/main">
            <a:off x="923925" y="0"/>
            <a:ext cx="10325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HHmembers-Summary</a:t>
            </a:r>
          </a:p>
        </p:txBody>
      </p:sp>
    </p:spTree>
    <p:clrMapOvr>
      <a:masterClrMapping xmlns:a="http://schemas.openxmlformats.org/drawingml/2006/main"/>
    </p:clrMapOvr>
  </p:cSld>
</p:sld>
</file>

<file path=ppt/slides/slide4.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2"/>
          </p:cNvPr>
          <p:cNvPicPr>
            <a:picLocks xmlns:a="http://schemas.openxmlformats.org/drawingml/2006/main" noChangeAspect="1"/>
          </p:cNvPicPr>
          <p:nvPr/>
        </p:nvPicPr>
        <p:blipFill>
          <a:blip xmlns:r="http://schemas.openxmlformats.org/officeDocument/2006/relationships" xmlns:a="http://schemas.openxmlformats.org/drawingml/2006/main" r:embed="imgId44788402"/>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HHmembers-Queries</a:t>
            </a:r>
          </a:p>
        </p:txBody>
      </p:sp>
    </p:spTree>
    <p:clrMapOvr>
      <a:masterClrMapping xmlns:a="http://schemas.openxmlformats.org/drawingml/2006/main"/>
    </p:clrMapOvr>
  </p:cSld>
</p:sld>
</file>

<file path=ppt/slides/slide5.xml><?xml version="1.0" encoding="utf-8"?>
<p:sld xmlns:p="http://schemas.openxmlformats.org/presentationml/2006/main">
  <p:cSld>
    <p:spTree>
      <p:nvGrpSpPr>
        <p:cNvPr id="1" name=""/>
        <p:cNvGrpSpPr/>
        <p:nvPr/>
      </p:nvGrpSpPr>
      <p:grpSpPr/>
      <p:pic>
        <p:nvPicPr>
          <p:cNvPr id="3" name="Picture" title="This slide contains the following visuals: slicer ,card ,slicer ,slicer ,card ,textbox ,textbox ,textbox ,Total Queries by Field Worker and Error Type  ,Total Queries by Field Worker and Tool Sections. Please refer to the notes on this slide for details">
            <a:hlinkClick xmlns:r="http://schemas.openxmlformats.org/officeDocument/2006/relationships" xmlns:a="http://schemas.openxmlformats.org/drawingml/2006/main" r:id="RelId3"/>
          </p:cNvPr>
          <p:cNvPicPr>
            <a:picLocks xmlns:a="http://schemas.openxmlformats.org/drawingml/2006/main" noChangeAspect="1"/>
          </p:cNvPicPr>
          <p:nvPr/>
        </p:nvPicPr>
        <p:blipFill>
          <a:blip xmlns:r="http://schemas.openxmlformats.org/officeDocument/2006/relationships" xmlns:a="http://schemas.openxmlformats.org/drawingml/2006/main" r:embed="imgId44788403"/>
          <a:stretch xmlns:a="http://schemas.openxmlformats.org/drawingml/2006/main">
            <a:fillRect/>
          </a:stretch>
        </p:blipFill>
        <p:spPr>
          <a:xfrm xmlns:a="http://schemas.openxmlformats.org/drawingml/2006/main">
            <a:off x="2571750" y="0"/>
            <a:ext cx="702945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HHmembers-Queries 2</a:t>
            </a:r>
          </a:p>
        </p:txBody>
      </p:sp>
    </p:spTree>
    <p:clrMapOvr>
      <a:masterClrMapping xmlns:a="http://schemas.openxmlformats.org/drawingml/2006/main"/>
    </p:clrMapOvr>
  </p:cSld>
</p:sld>
</file>

<file path=ppt/slides/slide6.xml><?xml version="1.0" encoding="utf-8"?>
<p:sld xmlns:p="http://schemas.openxmlformats.org/presentationml/2006/main">
  <p:cSld>
    <p:spTree>
      <p:nvGrpSpPr>
        <p:cNvPr id="1" name=""/>
        <p:cNvGrpSpPr/>
        <p:nvPr/>
      </p:nvGrpSpPr>
      <p:grpSpPr/>
      <p:pic>
        <p:nvPicPr>
          <p:cNvPr id="3" name="Picture" title="This slide contains the following visuals: Interviews Conducted By Field Worker ,slicer ,Distribution of Interviews By Village ,actionButton ,card ,textbox ,textbox ,gauge ,Woman as HoH ,Response Status ,Interviews By Zones and Study Arm ,slicer ,slicer ,slicer ,textbox. Please refer to the notes on this slide for details">
            <a:hlinkClick xmlns:r="http://schemas.openxmlformats.org/officeDocument/2006/relationships" xmlns:a="http://schemas.openxmlformats.org/drawingml/2006/main" r:id="RelId4"/>
          </p:cNvPr>
          <p:cNvPicPr>
            <a:picLocks xmlns:a="http://schemas.openxmlformats.org/drawingml/2006/main" noChangeAspect="1"/>
          </p:cNvPicPr>
          <p:nvPr/>
        </p:nvPicPr>
        <p:blipFill>
          <a:blip xmlns:r="http://schemas.openxmlformats.org/officeDocument/2006/relationships" xmlns:a="http://schemas.openxmlformats.org/drawingml/2006/main" r:embed="imgId44788404"/>
          <a:stretch xmlns:a="http://schemas.openxmlformats.org/drawingml/2006/main">
            <a:fillRect/>
          </a:stretch>
        </p:blipFill>
        <p:spPr>
          <a:xfrm xmlns:a="http://schemas.openxmlformats.org/drawingml/2006/main">
            <a:off x="923925" y="0"/>
            <a:ext cx="10325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Women-Summary</a:t>
            </a:r>
          </a:p>
        </p:txBody>
      </p:sp>
    </p:spTree>
    <p:clrMapOvr>
      <a:masterClrMapping xmlns:a="http://schemas.openxmlformats.org/drawingml/2006/main"/>
    </p:clrMapOvr>
  </p:cSld>
</p:sld>
</file>

<file path=ppt/slides/slide7.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5"/>
          </p:cNvPr>
          <p:cNvPicPr>
            <a:picLocks xmlns:a="http://schemas.openxmlformats.org/drawingml/2006/main" noChangeAspect="1"/>
          </p:cNvPicPr>
          <p:nvPr/>
        </p:nvPicPr>
        <p:blipFill>
          <a:blip xmlns:r="http://schemas.openxmlformats.org/officeDocument/2006/relationships" xmlns:a="http://schemas.openxmlformats.org/drawingml/2006/main" r:embed="imgId44788405"/>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Women-Queries</a:t>
            </a:r>
          </a:p>
        </p:txBody>
      </p:sp>
    </p:spTree>
    <p:clrMapOvr>
      <a:masterClrMapping xmlns:a="http://schemas.openxmlformats.org/drawingml/2006/main"/>
    </p:clrMapOvr>
  </p:cSld>
</p:sld>
</file>

<file path=ppt/slides/slide8.xml><?xml version="1.0" encoding="utf-8"?>
<p:sld xmlns:p="http://schemas.openxmlformats.org/presentationml/2006/main">
  <p:cSld>
    <p:spTree>
      <p:nvGrpSpPr>
        <p:cNvPr id="1" name=""/>
        <p:cNvGrpSpPr/>
        <p:nvPr/>
      </p:nvGrpSpPr>
      <p:grpSpPr/>
      <p:pic>
        <p:nvPicPr>
          <p:cNvPr id="3" name="Picture" title="This slide contains the following visuals: card ,multiRowCard ,Interviews Conducted By Field Worker ,slicer ,slicer ,slicer ,Daily Data Sync status ,actionButton ,slicer ,card ,textbox ,textbox ,textbox. Please refer to the notes on this slide for details">
            <a:hlinkClick xmlns:r="http://schemas.openxmlformats.org/officeDocument/2006/relationships" xmlns:a="http://schemas.openxmlformats.org/drawingml/2006/main" r:id="RelId6"/>
          </p:cNvPr>
          <p:cNvPicPr>
            <a:picLocks xmlns:a="http://schemas.openxmlformats.org/drawingml/2006/main" noChangeAspect="1"/>
          </p:cNvPicPr>
          <p:nvPr/>
        </p:nvPicPr>
        <p:blipFill>
          <a:blip xmlns:r="http://schemas.openxmlformats.org/officeDocument/2006/relationships" xmlns:a="http://schemas.openxmlformats.org/drawingml/2006/main" r:embed="imgId44788406"/>
          <a:stretch xmlns:a="http://schemas.openxmlformats.org/drawingml/2006/main">
            <a:fillRect/>
          </a:stretch>
        </p:blipFill>
        <p:spPr>
          <a:xfrm xmlns:a="http://schemas.openxmlformats.org/drawingml/2006/main">
            <a:off x="161925" y="0"/>
            <a:ext cx="11858625"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HW-Summary</a:t>
            </a:r>
          </a:p>
        </p:txBody>
      </p:sp>
    </p:spTree>
    <p:clrMapOvr>
      <a:masterClrMapping xmlns:a="http://schemas.openxmlformats.org/drawingml/2006/main"/>
    </p:clrMapOvr>
  </p:cSld>
</p:sld>
</file>

<file path=ppt/slides/slide9.xml><?xml version="1.0" encoding="utf-8"?>
<p:sld xmlns:p="http://schemas.openxmlformats.org/presentationml/2006/main">
  <p:cSld>
    <p:spTree>
      <p:nvGrpSpPr>
        <p:cNvPr id="1" name=""/>
        <p:cNvGrpSpPr/>
        <p:nvPr/>
      </p:nvGrpSpPr>
      <p:grpSpPr/>
      <p:pic>
        <p:nvPicPr>
          <p:cNvPr id="3" name="Picture" title="This slide contains the following visuals: card ,multiRowCard ,Number of Participants Interviewed in Hospitals By Field Worker ,slicer ,slicer ,slicer ,slicer ,Number of Participants Interviewed in Health Centers By Field Worker ,Number of Participants Interviewed in CHPS By Field Worker ,HCWs Interviews By Type of Health Facility ,card ,textbox ,textbox ,textbox. Please refer to the notes on this slide for details">
            <a:hlinkClick xmlns:r="http://schemas.openxmlformats.org/officeDocument/2006/relationships" xmlns:a="http://schemas.openxmlformats.org/drawingml/2006/main" r:id="RelId7"/>
          </p:cNvPr>
          <p:cNvPicPr>
            <a:picLocks xmlns:a="http://schemas.openxmlformats.org/drawingml/2006/main" noChangeAspect="1"/>
          </p:cNvPicPr>
          <p:nvPr/>
        </p:nvPicPr>
        <p:blipFill>
          <a:blip xmlns:r="http://schemas.openxmlformats.org/officeDocument/2006/relationships" xmlns:a="http://schemas.openxmlformats.org/drawingml/2006/main" r:embed="imgId44788407"/>
          <a:stretch xmlns:a="http://schemas.openxmlformats.org/drawingml/2006/main">
            <a:fillRect/>
          </a:stretch>
        </p:blipFill>
        <p:spPr>
          <a:xfrm xmlns:a="http://schemas.openxmlformats.org/drawingml/2006/main">
            <a:off x="3457575" y="0"/>
            <a:ext cx="525780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HW-Summary 2</a:t>
            </a:r>
          </a:p>
        </p:txBody>
      </p:sp>
    </p:spTree>
    <p:clrMapOvr>
      <a:masterClrMapping xmlns:a="http://schemas.openxmlformats.org/drawingml/2006/main"/>
    </p:clrMapOvr>
  </p:cSld>
</p:sld>
</file>

<file path=ppt/slides/slidea.xml><?xml version="1.0" encoding="utf-8"?>
<p:sld xmlns:p="http://schemas.openxmlformats.org/presentationml/2006/main">
  <p:cSld>
    <p:spTree>
      <p:nvGrpSpPr>
        <p:cNvPr id="1" name=""/>
        <p:cNvGrpSpPr/>
        <p:nvPr/>
      </p:nvGrpSpPr>
      <p:grpSpPr/>
      <p:pic>
        <p:nvPicPr>
          <p:cNvPr id="3" name="Picture" title="This slide contains the following visuals: Total HCWs Interviewed By Facility ,slicer ,slicer ,slicer ,Gender Distribution ,Profession Distribution ,Age Group Distribution ,slicer ,card ,textbox ,textbox ,Total HCWs Interviewed By Facility ,textbox. Please refer to the notes on this slide for details">
            <a:hlinkClick xmlns:r="http://schemas.openxmlformats.org/officeDocument/2006/relationships" xmlns:a="http://schemas.openxmlformats.org/drawingml/2006/main" r:id="RelId8"/>
          </p:cNvPr>
          <p:cNvPicPr>
            <a:picLocks xmlns:a="http://schemas.openxmlformats.org/drawingml/2006/main" noChangeAspect="1"/>
          </p:cNvPicPr>
          <p:nvPr/>
        </p:nvPicPr>
        <p:blipFill>
          <a:blip xmlns:r="http://schemas.openxmlformats.org/officeDocument/2006/relationships" xmlns:a="http://schemas.openxmlformats.org/drawingml/2006/main" r:embed="imgId44788408"/>
          <a:stretch xmlns:a="http://schemas.openxmlformats.org/drawingml/2006/main">
            <a:fillRect/>
          </a:stretch>
        </p:blipFill>
        <p:spPr>
          <a:xfrm xmlns:a="http://schemas.openxmlformats.org/drawingml/2006/main">
            <a:off x="2066925" y="0"/>
            <a:ext cx="8048625"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HW-Epid</a:t>
            </a:r>
          </a:p>
        </p:txBody>
      </p:sp>
    </p:spTree>
    <p:clrMapOvr>
      <a:masterClrMapping xmlns:a="http://schemas.openxmlformats.org/drawingml/2006/main"/>
    </p:clrMapOvr>
  </p:cSld>
</p:sld>
</file>

<file path=ppt/slides/slideb.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9"/>
          </p:cNvPr>
          <p:cNvPicPr>
            <a:picLocks xmlns:a="http://schemas.openxmlformats.org/drawingml/2006/main" noChangeAspect="1"/>
          </p:cNvPicPr>
          <p:nvPr/>
        </p:nvPicPr>
        <p:blipFill>
          <a:blip xmlns:r="http://schemas.openxmlformats.org/officeDocument/2006/relationships" xmlns:a="http://schemas.openxmlformats.org/drawingml/2006/main" r:embed="imgId44788409"/>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HW-Queries</a:t>
            </a:r>
          </a:p>
        </p:txBody>
      </p:sp>
    </p:spTree>
    <p:clrMapOvr>
      <a:masterClrMapping xmlns:a="http://schemas.openxmlformats.org/drawingml/2006/main"/>
    </p:clrMapOvr>
  </p:cSld>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TotalTime>
  <Words>27</Words>
  <Application>Microsoft Office PowerPoint</Application>
  <PresentationFormat>Widescreen</PresentationFormat>
  <Paragraphs>6</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Segoe UI</vt:lpstr>
      <vt:lpstr>Segoe UI Light</vt:lpstr>
      <vt:lpstr>Segoe UI Semibold</vt:lpstr>
      <vt:lpstr>Custom Design</vt:lpstr>
      <vt:lpstr>#Name of Power BI report#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Power BI</dc:creator>
  <cp:lastModifiedBy>Brian Butler</cp:lastModifiedBy>
  <cp:revision>4</cp:revision>
  <dcterms:created xsi:type="dcterms:W3CDTF">2016-09-04T11:54:55Z</dcterms:created>
  <dcterms:modified xsi:type="dcterms:W3CDTF">2020-11-25T15:29:01Z</dcterms:modified>
</cp:coreProperties>
</file>